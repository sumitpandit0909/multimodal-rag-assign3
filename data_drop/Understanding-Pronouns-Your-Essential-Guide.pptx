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4630400" cy="8229600"/>
  <p:notesSz cx="8229600" cy="14630400"/>
  <p:embeddedFontLst>
    <p:embeddedFont>
      <p:font typeface="Libre Baskerville" panose="02000000000000000000" pitchFamily="2" charset="0"/>
      <p:regular r:id="rId14"/>
    </p:embeddedFont>
    <p:embeddedFont>
      <p:font typeface="Open Sans" panose="020B0606030504020204" pitchFamily="34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8851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1.pn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9.sv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Relationship Id="rId9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5" Type="http://schemas.openxmlformats.org/officeDocument/2006/relationships/image" Target="../media/image35.sv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DA04433-6125-66C7-C65A-73D25D5CA6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888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EAE8F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7348" y="608290"/>
            <a:ext cx="5259586" cy="701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Understanding Pronouns: Your Essential Guide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clear, visual walkthrough of one of grammar's most powerful tools — from basics to advanced types.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012156"/>
            <a:ext cx="4205168" cy="420516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559981" y="2053114"/>
            <a:ext cx="1249204" cy="426244"/>
          </a:xfrm>
          <a:prstGeom prst="roundRect">
            <a:avLst>
              <a:gd name="adj" fmla="val 6386"/>
            </a:avLst>
          </a:prstGeom>
          <a:solidFill>
            <a:srgbClr val="D7D6F5"/>
          </a:solidFill>
          <a:ln/>
        </p:spPr>
      </p:sp>
      <p:sp>
        <p:nvSpPr>
          <p:cNvPr id="4" name="Text 1"/>
          <p:cNvSpPr/>
          <p:nvPr/>
        </p:nvSpPr>
        <p:spPr>
          <a:xfrm>
            <a:off x="5696069" y="2121098"/>
            <a:ext cx="97702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BASICS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559981" y="257008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What is a Pronoun?</a:t>
            </a:r>
            <a:endParaRPr lang="en-US" sz="4450" dirty="0"/>
          </a:p>
        </p:txBody>
      </p:sp>
      <p:sp>
        <p:nvSpPr>
          <p:cNvPr id="6" name="Text 3"/>
          <p:cNvSpPr/>
          <p:nvPr/>
        </p:nvSpPr>
        <p:spPr>
          <a:xfrm>
            <a:off x="5559981" y="3505676"/>
            <a:ext cx="828413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pronoun is a word that </a:t>
            </a: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replaces a noun or another pronoun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 a sentence. Rather than repeating a name or object over and over, pronouns step in to keep language natural and efficient.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559981" y="4849535"/>
            <a:ext cx="8284131" cy="1326713"/>
          </a:xfrm>
          <a:prstGeom prst="roundRect">
            <a:avLst>
              <a:gd name="adj" fmla="val 2565"/>
            </a:avLst>
          </a:prstGeom>
          <a:solidFill>
            <a:srgbClr val="B6D6FC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6795" y="5201245"/>
            <a:ext cx="283488" cy="22681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97097" y="5133023"/>
            <a:ext cx="732020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Pronouns make sentences flow smoothly and reduce awkward repetition.</a:t>
            </a:r>
            <a:endParaRPr lang="en-US" sz="17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6BAA109-CF68-AE5E-869F-FCBAD4747A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99804" y="7656794"/>
            <a:ext cx="1705213" cy="5728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EAE8F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7348" y="608290"/>
            <a:ext cx="5259586" cy="701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90118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Antecedent: Who's Who?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2658904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 </a:t>
            </a: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antecedent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is the specific word that a pronoun refers back to. Every pronoun needs a clear antecedent to avoid confusion.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93790" y="3639860"/>
            <a:ext cx="7556421" cy="1730812"/>
          </a:xfrm>
          <a:prstGeom prst="roundRect">
            <a:avLst>
              <a:gd name="adj" fmla="val 8453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310" y="3639860"/>
            <a:ext cx="121920" cy="17308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2524" y="38971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Antecedent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1142524" y="4387572"/>
            <a:ext cx="69503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Ray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said he wanted to audition. → </a:t>
            </a:r>
            <a:r>
              <a:rPr lang="en-US" sz="175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Ray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is the antecedent — the noun being replaced.</a:t>
            </a:r>
            <a:endParaRPr lang="en-US" sz="1750" dirty="0"/>
          </a:p>
        </p:txBody>
      </p:sp>
      <p:sp>
        <p:nvSpPr>
          <p:cNvPr id="10" name="Shape 6"/>
          <p:cNvSpPr/>
          <p:nvPr/>
        </p:nvSpPr>
        <p:spPr>
          <a:xfrm>
            <a:off x="793790" y="5597485"/>
            <a:ext cx="7556421" cy="1730812"/>
          </a:xfrm>
          <a:prstGeom prst="roundRect">
            <a:avLst>
              <a:gd name="adj" fmla="val 8453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310" y="5597485"/>
            <a:ext cx="121920" cy="173081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42524" y="58547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Pronoun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1142524" y="6345198"/>
            <a:ext cx="69503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Ray said </a:t>
            </a: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wanted to audition. → </a:t>
            </a:r>
            <a:r>
              <a:rPr lang="en-US" sz="175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is the pronoun standing in for Ray.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49517"/>
            <a:ext cx="581775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Why Use Pronouns?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85110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Pronouns are essential tools for </a:t>
            </a: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clear, readable writing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They eliminate clunky repetition and help ideas connect seamlessly across sentences.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1133951" y="4128968"/>
            <a:ext cx="590454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Instead of "Sarah loves Sarah's dog," we say </a:t>
            </a: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"Sarah loves </a:t>
            </a:r>
            <a:r>
              <a:rPr lang="en-US" sz="1750" b="1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her</a:t>
            </a: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dog."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4128968"/>
            <a:ext cx="30480" cy="725805"/>
          </a:xfrm>
          <a:prstGeom prst="rect">
            <a:avLst/>
          </a:prstGeom>
          <a:solidFill>
            <a:srgbClr val="403CCF"/>
          </a:solidFill>
          <a:ln/>
        </p:spPr>
      </p:sp>
      <p:sp>
        <p:nvSpPr>
          <p:cNvPr id="6" name="Shape 4"/>
          <p:cNvSpPr/>
          <p:nvPr/>
        </p:nvSpPr>
        <p:spPr>
          <a:xfrm>
            <a:off x="7599521" y="1877854"/>
            <a:ext cx="3008948" cy="2486382"/>
          </a:xfrm>
          <a:prstGeom prst="roundRect">
            <a:avLst>
              <a:gd name="adj" fmla="val 1368"/>
            </a:avLst>
          </a:prstGeom>
          <a:solidFill>
            <a:srgbClr val="EAE8F3"/>
          </a:solidFill>
          <a:ln/>
        </p:spPr>
      </p:sp>
      <p:sp>
        <p:nvSpPr>
          <p:cNvPr id="7" name="Text 5"/>
          <p:cNvSpPr/>
          <p:nvPr/>
        </p:nvSpPr>
        <p:spPr>
          <a:xfrm>
            <a:off x="7826335" y="2104668"/>
            <a:ext cx="255531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Avoid Repetition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826335" y="2685812"/>
            <a:ext cx="25553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Replace repeated nouns with a concise pronoun substitute.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10835283" y="1877854"/>
            <a:ext cx="3008948" cy="2486382"/>
          </a:xfrm>
          <a:prstGeom prst="roundRect">
            <a:avLst>
              <a:gd name="adj" fmla="val 1368"/>
            </a:avLst>
          </a:prstGeom>
          <a:solidFill>
            <a:srgbClr val="EAE8F3"/>
          </a:solidFill>
          <a:ln/>
        </p:spPr>
      </p:sp>
      <p:sp>
        <p:nvSpPr>
          <p:cNvPr id="10" name="Text 8"/>
          <p:cNvSpPr/>
          <p:nvPr/>
        </p:nvSpPr>
        <p:spPr>
          <a:xfrm>
            <a:off x="11062097" y="2104668"/>
            <a:ext cx="255531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Improve Clarity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062097" y="2685812"/>
            <a:ext cx="25553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Pronouns link ideas between sentences, guiding the reader smoothly.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599521" y="4591050"/>
            <a:ext cx="6244709" cy="1760577"/>
          </a:xfrm>
          <a:prstGeom prst="roundRect">
            <a:avLst>
              <a:gd name="adj" fmla="val 1933"/>
            </a:avLst>
          </a:prstGeom>
          <a:solidFill>
            <a:srgbClr val="EAE8F3"/>
          </a:solidFill>
          <a:ln/>
        </p:spPr>
      </p:sp>
      <p:sp>
        <p:nvSpPr>
          <p:cNvPr id="13" name="Text 11"/>
          <p:cNvSpPr/>
          <p:nvPr/>
        </p:nvSpPr>
        <p:spPr>
          <a:xfrm>
            <a:off x="7826335" y="48178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Natural Flow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826335" y="5399008"/>
            <a:ext cx="579108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Speech and writing feel more natural when pronouns are used correctly.</a:t>
            </a:r>
            <a:endParaRPr lang="en-US" sz="17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A250826-7576-F25A-99B5-A6EDB447FE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99804" y="7656794"/>
            <a:ext cx="1705213" cy="57280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196697"/>
            <a:ext cx="2481620" cy="441484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403C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7498" y="1272302"/>
            <a:ext cx="219420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PRONOUN TYPES · PART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728907"/>
            <a:ext cx="92315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Personal &amp; Possessive Pronouns</a:t>
            </a:r>
            <a:endParaRPr lang="en-US" sz="4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777847"/>
            <a:ext cx="2807018" cy="17348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90" y="47961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Personal Pronouns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5286613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Refer to specific people or things.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5785604"/>
            <a:ext cx="6379607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First person: </a:t>
            </a: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I, we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Second person: </a:t>
            </a: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Third person: </a:t>
            </a: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he, she, it, they</a:t>
            </a:r>
            <a:endParaRPr lang="en-US" sz="17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884" y="2777847"/>
            <a:ext cx="2807018" cy="17348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56884" y="4796195"/>
            <a:ext cx="296037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Possessive Pronouns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7456884" y="5286613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Show ownership or belonging.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7456884" y="5785604"/>
            <a:ext cx="6379726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My, your, his, her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Its, our, their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Example: </a:t>
            </a:r>
            <a:r>
              <a:rPr lang="en-US" sz="1750" i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"That is </a:t>
            </a:r>
            <a:r>
              <a:rPr lang="en-US" sz="1750" b="1" i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her</a:t>
            </a:r>
            <a:r>
              <a:rPr lang="en-US" sz="1750" i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book."</a:t>
            </a:r>
            <a:endParaRPr lang="en-US" sz="17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E77C189-1DEF-0181-C472-790F4A9743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99804" y="7656794"/>
            <a:ext cx="1705213" cy="57280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499830"/>
            <a:ext cx="2481620" cy="441484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403C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7498" y="1575435"/>
            <a:ext cx="219420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PRONOUN TYPES · PART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032040"/>
            <a:ext cx="91629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Reflexive &amp; Intensive Pronouns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308098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Both types share the same words — but their roles in a sentence are very different.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93790" y="3699034"/>
            <a:ext cx="13042821" cy="3030736"/>
          </a:xfrm>
          <a:prstGeom prst="roundRect">
            <a:avLst>
              <a:gd name="adj" fmla="val 1123"/>
            </a:avLst>
          </a:prstGeom>
          <a:solidFill>
            <a:srgbClr val="EAE8F3"/>
          </a:solidFill>
          <a:ln/>
        </p:spPr>
      </p:sp>
      <p:sp>
        <p:nvSpPr>
          <p:cNvPr id="7" name="Shape 5"/>
          <p:cNvSpPr/>
          <p:nvPr/>
        </p:nvSpPr>
        <p:spPr>
          <a:xfrm>
            <a:off x="793790" y="3699034"/>
            <a:ext cx="6521410" cy="3030736"/>
          </a:xfrm>
          <a:prstGeom prst="roundRect">
            <a:avLst>
              <a:gd name="adj" fmla="val 1123"/>
            </a:avLst>
          </a:prstGeom>
          <a:solidFill>
            <a:srgbClr val="EAE8F3"/>
          </a:solidFill>
          <a:ln/>
        </p:spPr>
      </p:sp>
      <p:sp>
        <p:nvSpPr>
          <p:cNvPr id="8" name="Text 6"/>
          <p:cNvSpPr/>
          <p:nvPr/>
        </p:nvSpPr>
        <p:spPr>
          <a:xfrm>
            <a:off x="1020604" y="3925848"/>
            <a:ext cx="28377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Reflexive Pronouns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20604" y="4416266"/>
            <a:ext cx="60677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Reflect the action </a:t>
            </a: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back onto the subject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They are essential to the sentence's meaning.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1020604" y="5278160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"She taught </a:t>
            </a:r>
            <a:r>
              <a:rPr lang="en-US" sz="1750" b="1" i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herself</a:t>
            </a:r>
            <a:r>
              <a:rPr lang="en-US" sz="1750" i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 code."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1020604" y="5777151"/>
            <a:ext cx="60677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Forms: myself, yourself, himself, herself, itself, ourselves, yourselves, themselves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315200" y="3699034"/>
            <a:ext cx="6521410" cy="3030736"/>
          </a:xfrm>
          <a:prstGeom prst="rect">
            <a:avLst/>
          </a:prstGeom>
          <a:solidFill>
            <a:srgbClr val="EAE8F3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0" y="3699034"/>
            <a:ext cx="30480" cy="3030736"/>
          </a:xfrm>
          <a:prstGeom prst="roundRect">
            <a:avLst>
              <a:gd name="adj" fmla="val 111628"/>
            </a:avLst>
          </a:prstGeom>
          <a:solidFill>
            <a:srgbClr val="D0CED9"/>
          </a:solidFill>
          <a:ln/>
        </p:spPr>
      </p:sp>
      <p:sp>
        <p:nvSpPr>
          <p:cNvPr id="14" name="Text 12"/>
          <p:cNvSpPr/>
          <p:nvPr/>
        </p:nvSpPr>
        <p:spPr>
          <a:xfrm>
            <a:off x="7542014" y="39258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Intensive Pronouns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542014" y="4416266"/>
            <a:ext cx="60677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 </a:t>
            </a: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emphasis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 a noun or pronoun. Remove them and the sentence still makes sense.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542014" y="5278160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"The president </a:t>
            </a:r>
            <a:r>
              <a:rPr lang="en-US" sz="1750" b="1" i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himself</a:t>
            </a:r>
            <a:r>
              <a:rPr lang="en-US" sz="1750" i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signed the letter."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542014" y="5777151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Same forms as reflexive — context determines the type.</a:t>
            </a:r>
            <a:endParaRPr lang="en-US" sz="17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81AF5EF-EAA7-1E3C-5248-9F8136E387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99804" y="7656794"/>
            <a:ext cx="1705213" cy="57280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890945"/>
            <a:ext cx="4205168" cy="420516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559981" y="1929884"/>
            <a:ext cx="1738193" cy="426244"/>
          </a:xfrm>
          <a:prstGeom prst="roundRect">
            <a:avLst>
              <a:gd name="adj" fmla="val 6386"/>
            </a:avLst>
          </a:prstGeom>
          <a:solidFill>
            <a:srgbClr val="D7D6F5"/>
          </a:solidFill>
          <a:ln/>
        </p:spPr>
      </p:sp>
      <p:sp>
        <p:nvSpPr>
          <p:cNvPr id="4" name="Text 1"/>
          <p:cNvSpPr/>
          <p:nvPr/>
        </p:nvSpPr>
        <p:spPr>
          <a:xfrm>
            <a:off x="5696069" y="1997869"/>
            <a:ext cx="146601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PRONOUN TYPES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559981" y="2446853"/>
            <a:ext cx="729186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Demonstrative Pronouns</a:t>
            </a:r>
            <a:endParaRPr lang="en-US" sz="4450" dirty="0"/>
          </a:p>
        </p:txBody>
      </p:sp>
      <p:sp>
        <p:nvSpPr>
          <p:cNvPr id="6" name="Text 3"/>
          <p:cNvSpPr/>
          <p:nvPr/>
        </p:nvSpPr>
        <p:spPr>
          <a:xfrm>
            <a:off x="5559981" y="3382447"/>
            <a:ext cx="828413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Demonstrative pronouns </a:t>
            </a: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point directly to specific nouns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either nearby or far away — without naming them outright.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93790" y="5606415"/>
            <a:ext cx="6407944" cy="680442"/>
          </a:xfrm>
          <a:prstGeom prst="roundRect">
            <a:avLst>
              <a:gd name="adj" fmla="val 480029"/>
            </a:avLst>
          </a:prstGeom>
          <a:solidFill>
            <a:srgbClr val="EAE8F3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27621" y="5776436"/>
            <a:ext cx="340162" cy="3401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20604" y="651367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Near: This / These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1020604" y="7004090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</a:t>
            </a:r>
            <a:r>
              <a:rPr lang="en-US" sz="1750" b="1" i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</a:t>
            </a:r>
            <a:r>
              <a:rPr lang="en-US" sz="1750" i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is my favorite book."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7428548" y="5606415"/>
            <a:ext cx="6408063" cy="680442"/>
          </a:xfrm>
          <a:prstGeom prst="roundRect">
            <a:avLst>
              <a:gd name="adj" fmla="val 480029"/>
            </a:avLst>
          </a:prstGeom>
          <a:solidFill>
            <a:srgbClr val="EAE8F3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62498" y="5776436"/>
            <a:ext cx="340162" cy="34016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655362" y="651367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Far: That / Those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7655362" y="7004090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</a:t>
            </a:r>
            <a:r>
              <a:rPr lang="en-US" sz="1750" b="1" i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Those</a:t>
            </a:r>
            <a:r>
              <a:rPr lang="en-US" sz="1750" i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are the ones I chose."</a:t>
            </a:r>
            <a:endParaRPr lang="en-US" sz="17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C4A746D-BDAF-8CD3-1615-00CA7EF9DD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99804" y="7656794"/>
            <a:ext cx="1705213" cy="57280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EAE8F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4965" y="591860"/>
            <a:ext cx="5284351" cy="70458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6993" y="595432"/>
            <a:ext cx="5225177" cy="631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Indefinite Pronouns</a:t>
            </a:r>
            <a:endParaRPr lang="en-US" sz="3950" dirty="0"/>
          </a:p>
        </p:txBody>
      </p:sp>
      <p:sp>
        <p:nvSpPr>
          <p:cNvPr id="5" name="Text 2"/>
          <p:cNvSpPr/>
          <p:nvPr/>
        </p:nvSpPr>
        <p:spPr>
          <a:xfrm>
            <a:off x="706993" y="1496497"/>
            <a:ext cx="7730014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Indefinite pronouns refer to </a:t>
            </a:r>
            <a:r>
              <a:rPr lang="en-US" sz="15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non-specific people, places, or things</a:t>
            </a: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They are among the most commonly used pronouns in everyday speech.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706993" y="2309932"/>
            <a:ext cx="3774996" cy="2224326"/>
          </a:xfrm>
          <a:prstGeom prst="roundRect">
            <a:avLst>
              <a:gd name="adj" fmla="val 1362"/>
            </a:avLst>
          </a:prstGeom>
          <a:solidFill>
            <a:srgbClr val="EAE8F3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923" y="2511862"/>
            <a:ext cx="606028" cy="606028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5611" y="2678430"/>
            <a:ext cx="272653" cy="27265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08923" y="3297793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Singular</a:t>
            </a:r>
            <a:endParaRPr lang="en-US" sz="1950" dirty="0"/>
          </a:p>
        </p:txBody>
      </p:sp>
      <p:sp>
        <p:nvSpPr>
          <p:cNvPr id="10" name="Text 5"/>
          <p:cNvSpPr/>
          <p:nvPr/>
        </p:nvSpPr>
        <p:spPr>
          <a:xfrm>
            <a:off x="908923" y="3721298"/>
            <a:ext cx="3371136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someone, anyone, everybody, nobody, everything, nothing</a:t>
            </a:r>
            <a:endParaRPr lang="en-US" sz="1550" dirty="0"/>
          </a:p>
        </p:txBody>
      </p:sp>
      <p:sp>
        <p:nvSpPr>
          <p:cNvPr id="11" name="Shape 6"/>
          <p:cNvSpPr/>
          <p:nvPr/>
        </p:nvSpPr>
        <p:spPr>
          <a:xfrm>
            <a:off x="4661892" y="2309932"/>
            <a:ext cx="3775115" cy="2224326"/>
          </a:xfrm>
          <a:prstGeom prst="roundRect">
            <a:avLst>
              <a:gd name="adj" fmla="val 1362"/>
            </a:avLst>
          </a:prstGeom>
          <a:solidFill>
            <a:srgbClr val="EAE8F3"/>
          </a:solidFill>
          <a:ln/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3822" y="2511862"/>
            <a:ext cx="606028" cy="606028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030510" y="2678430"/>
            <a:ext cx="272653" cy="27265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863822" y="3297793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Plural</a:t>
            </a:r>
            <a:endParaRPr lang="en-US" sz="1950" dirty="0"/>
          </a:p>
        </p:txBody>
      </p:sp>
      <p:sp>
        <p:nvSpPr>
          <p:cNvPr id="15" name="Text 8"/>
          <p:cNvSpPr/>
          <p:nvPr/>
        </p:nvSpPr>
        <p:spPr>
          <a:xfrm>
            <a:off x="4863822" y="3721298"/>
            <a:ext cx="3371255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few, many, both, several, others</a:t>
            </a:r>
            <a:endParaRPr lang="en-US" sz="1550" dirty="0"/>
          </a:p>
        </p:txBody>
      </p:sp>
      <p:sp>
        <p:nvSpPr>
          <p:cNvPr id="16" name="Shape 9"/>
          <p:cNvSpPr/>
          <p:nvPr/>
        </p:nvSpPr>
        <p:spPr>
          <a:xfrm>
            <a:off x="706993" y="4714161"/>
            <a:ext cx="7730014" cy="1918811"/>
          </a:xfrm>
          <a:prstGeom prst="roundRect">
            <a:avLst>
              <a:gd name="adj" fmla="val 1579"/>
            </a:avLst>
          </a:prstGeom>
          <a:solidFill>
            <a:srgbClr val="EAE8F3"/>
          </a:solidFill>
          <a:ln/>
        </p:spPr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8923" y="4916091"/>
            <a:ext cx="606028" cy="606028"/>
          </a:xfrm>
          <a:prstGeom prst="rect">
            <a:avLst/>
          </a:prstGeom>
        </p:spPr>
      </p:pic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5611" y="5082659"/>
            <a:ext cx="272653" cy="272653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908923" y="5702022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Either/Or</a:t>
            </a:r>
            <a:endParaRPr lang="en-US" sz="1950" dirty="0"/>
          </a:p>
        </p:txBody>
      </p:sp>
      <p:sp>
        <p:nvSpPr>
          <p:cNvPr id="20" name="Text 11"/>
          <p:cNvSpPr/>
          <p:nvPr/>
        </p:nvSpPr>
        <p:spPr>
          <a:xfrm>
            <a:off x="908923" y="6125527"/>
            <a:ext cx="7326154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all, some, any, none, most — can be singular or plural depending on context</a:t>
            </a:r>
            <a:endParaRPr lang="en-US" sz="1550" dirty="0"/>
          </a:p>
        </p:txBody>
      </p:sp>
      <p:sp>
        <p:nvSpPr>
          <p:cNvPr id="21" name="Shape 12"/>
          <p:cNvSpPr/>
          <p:nvPr/>
        </p:nvSpPr>
        <p:spPr>
          <a:xfrm>
            <a:off x="706993" y="6835378"/>
            <a:ext cx="7730014" cy="798790"/>
          </a:xfrm>
          <a:prstGeom prst="roundRect">
            <a:avLst>
              <a:gd name="adj" fmla="val 3794"/>
            </a:avLst>
          </a:prstGeom>
          <a:solidFill>
            <a:srgbClr val="C3C2F0"/>
          </a:solidFill>
          <a:ln/>
        </p:spPr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8923" y="7139702"/>
            <a:ext cx="252413" cy="20193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1363266" y="7065764"/>
            <a:ext cx="6871811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Example:</a:t>
            </a:r>
            <a:r>
              <a:rPr lang="en-US" sz="15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"</a:t>
            </a:r>
            <a:r>
              <a:rPr lang="en-US" sz="155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Someone</a:t>
            </a:r>
            <a:r>
              <a:rPr lang="en-US" sz="15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left their umbrella by the door."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6642" y="889159"/>
            <a:ext cx="1656993" cy="399812"/>
          </a:xfrm>
          <a:prstGeom prst="roundRect">
            <a:avLst>
              <a:gd name="adj" fmla="val 6489"/>
            </a:avLst>
          </a:prstGeom>
          <a:solidFill>
            <a:srgbClr val="D7D6F5"/>
          </a:solidFill>
          <a:ln/>
        </p:spPr>
      </p:sp>
      <p:sp>
        <p:nvSpPr>
          <p:cNvPr id="3" name="Text 1"/>
          <p:cNvSpPr/>
          <p:nvPr/>
        </p:nvSpPr>
        <p:spPr>
          <a:xfrm>
            <a:off x="886301" y="953929"/>
            <a:ext cx="1397675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PRONOUN TYPES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56642" y="1371362"/>
            <a:ext cx="5404842" cy="67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Relative Pronouns</a:t>
            </a:r>
            <a:endParaRPr lang="en-US" sz="4250" dirty="0"/>
          </a:p>
        </p:txBody>
      </p:sp>
      <p:sp>
        <p:nvSpPr>
          <p:cNvPr id="5" name="Text 3"/>
          <p:cNvSpPr/>
          <p:nvPr/>
        </p:nvSpPr>
        <p:spPr>
          <a:xfrm>
            <a:off x="756642" y="2253020"/>
            <a:ext cx="6294834" cy="1013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Relative pronouns </a:t>
            </a:r>
            <a:r>
              <a:rPr lang="en-US" sz="17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introduce dependent clauses</a:t>
            </a:r>
            <a:r>
              <a:rPr lang="en-US" sz="1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that give more information about a noun. They connect two ideas into one flowing sentence.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80849" y="3498175"/>
            <a:ext cx="5970627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"The book </a:t>
            </a:r>
            <a:r>
              <a:rPr lang="en-US" sz="1700" b="1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that</a:t>
            </a:r>
            <a:r>
              <a:rPr lang="en-US" sz="1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 read last summer was amazing."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56642" y="3498175"/>
            <a:ext cx="30480" cy="337780"/>
          </a:xfrm>
          <a:prstGeom prst="rect">
            <a:avLst/>
          </a:prstGeom>
          <a:solidFill>
            <a:srgbClr val="403CCF"/>
          </a:solidFill>
          <a:ln/>
        </p:spPr>
      </p:sp>
      <p:sp>
        <p:nvSpPr>
          <p:cNvPr id="8" name="Text 6"/>
          <p:cNvSpPr/>
          <p:nvPr/>
        </p:nvSpPr>
        <p:spPr>
          <a:xfrm>
            <a:off x="756642" y="4067770"/>
            <a:ext cx="6294834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clause "that I read last summer" modifies </a:t>
            </a:r>
            <a:r>
              <a:rPr lang="en-US" sz="1700" i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book</a:t>
            </a:r>
            <a:r>
              <a:rPr lang="en-US" sz="1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linked by the relative pronoun </a:t>
            </a:r>
            <a:r>
              <a:rPr lang="en-US" sz="17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that</a:t>
            </a:r>
            <a:r>
              <a:rPr lang="en-US" sz="1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586543" y="889159"/>
            <a:ext cx="6294834" cy="2013109"/>
          </a:xfrm>
          <a:prstGeom prst="roundRect">
            <a:avLst>
              <a:gd name="adj" fmla="val 1611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17023" y="919639"/>
            <a:ext cx="6233874" cy="648533"/>
          </a:xfrm>
          <a:prstGeom prst="rect">
            <a:avLst/>
          </a:prstGeom>
          <a:solidFill>
            <a:srgbClr val="EAE8F3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71798" y="1081683"/>
            <a:ext cx="324207" cy="324207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833122" y="1774150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Who / Whom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7833122" y="2317909"/>
            <a:ext cx="5801678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Refers to people. </a:t>
            </a:r>
            <a:r>
              <a:rPr lang="en-US" sz="1700" i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"The teacher </a:t>
            </a:r>
            <a:r>
              <a:rPr lang="en-US" sz="1700" b="1" i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who</a:t>
            </a:r>
            <a:r>
              <a:rPr lang="en-US" sz="1700" i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inspired me."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7586543" y="3108246"/>
            <a:ext cx="6294834" cy="2013109"/>
          </a:xfrm>
          <a:prstGeom prst="roundRect">
            <a:avLst>
              <a:gd name="adj" fmla="val 1611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617023" y="3138726"/>
            <a:ext cx="6233874" cy="648533"/>
          </a:xfrm>
          <a:prstGeom prst="rect">
            <a:avLst/>
          </a:prstGeom>
          <a:solidFill>
            <a:srgbClr val="EAE8F3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71798" y="3300770"/>
            <a:ext cx="324207" cy="324207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833122" y="3993237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Whose</a:t>
            </a:r>
            <a:endParaRPr lang="en-US" sz="2100" dirty="0"/>
          </a:p>
        </p:txBody>
      </p:sp>
      <p:sp>
        <p:nvSpPr>
          <p:cNvPr id="18" name="Text 14"/>
          <p:cNvSpPr/>
          <p:nvPr/>
        </p:nvSpPr>
        <p:spPr>
          <a:xfrm>
            <a:off x="7833122" y="4536996"/>
            <a:ext cx="5801678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Shows possession. </a:t>
            </a:r>
            <a:r>
              <a:rPr lang="en-US" sz="1700" i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"The student </a:t>
            </a:r>
            <a:r>
              <a:rPr lang="en-US" sz="1700" b="1" i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whose</a:t>
            </a:r>
            <a:r>
              <a:rPr lang="en-US" sz="1700" i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essay won."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7586543" y="5327332"/>
            <a:ext cx="6294834" cy="2013109"/>
          </a:xfrm>
          <a:prstGeom prst="roundRect">
            <a:avLst>
              <a:gd name="adj" fmla="val 1611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617023" y="5357813"/>
            <a:ext cx="6233874" cy="648533"/>
          </a:xfrm>
          <a:prstGeom prst="rect">
            <a:avLst/>
          </a:prstGeom>
          <a:solidFill>
            <a:srgbClr val="EAE8F3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71798" y="5519857"/>
            <a:ext cx="324207" cy="324207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833122" y="6212324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Which / That</a:t>
            </a:r>
            <a:endParaRPr lang="en-US" sz="2100" dirty="0"/>
          </a:p>
        </p:txBody>
      </p:sp>
      <p:sp>
        <p:nvSpPr>
          <p:cNvPr id="23" name="Text 18"/>
          <p:cNvSpPr/>
          <p:nvPr/>
        </p:nvSpPr>
        <p:spPr>
          <a:xfrm>
            <a:off x="7833122" y="6756083"/>
            <a:ext cx="5801678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Refers to things. </a:t>
            </a:r>
            <a:r>
              <a:rPr lang="en-US" sz="1700" i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"The car </a:t>
            </a:r>
            <a:r>
              <a:rPr lang="en-US" sz="1700" b="1" i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which</a:t>
            </a:r>
            <a:r>
              <a:rPr lang="en-US" sz="1700" i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broke down."</a:t>
            </a:r>
            <a:endParaRPr lang="en-US" sz="17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1614209-D788-AA4A-B741-9B1DF3187DC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99804" y="7656794"/>
            <a:ext cx="1705213" cy="57280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EAE8F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48" y="608290"/>
            <a:ext cx="5259586" cy="701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640437"/>
            <a:ext cx="669548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Practice Makes Perfect!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6280190" y="1689378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Understanding pronouns is the foundation of </a:t>
            </a: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clear, confident communication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Now that you know the types, start noticing them everywhere.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65200" y="3040261"/>
            <a:ext cx="340162" cy="34016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017306" y="3033236"/>
            <a:ext cx="356115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Spot them while reading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017306" y="3523655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Identify pronouns and trace them back to their antecedents in books, articles, or emails.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65200" y="4710113"/>
            <a:ext cx="340162" cy="34016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017306" y="4703088"/>
            <a:ext cx="479774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Use them intentionally in writing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017306" y="5193506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Replace repeated nouns with the correct pronoun to keep your writing smooth and professional.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65200" y="6379964"/>
            <a:ext cx="340162" cy="34016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017306" y="6372939"/>
            <a:ext cx="383143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Review the types regularly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017306" y="6863358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From personal to relative, each pronoun type plays a unique role — knowing all of them sharpens your grammar.</a:t>
            </a:r>
            <a:endParaRPr lang="en-US" sz="17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7757B47-1A9E-E794-D7CF-5046BE3DDF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99804" y="7656794"/>
            <a:ext cx="1705213" cy="57280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723</Words>
  <Application>Microsoft Office PowerPoint</Application>
  <PresentationFormat>Custom</PresentationFormat>
  <Paragraphs>89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Open Sans</vt:lpstr>
      <vt:lpstr>Arial</vt:lpstr>
      <vt:lpstr>Libre Baskerville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Sumit Kumar Pandit</cp:lastModifiedBy>
  <cp:revision>3</cp:revision>
  <dcterms:created xsi:type="dcterms:W3CDTF">2026-04-22T17:20:01Z</dcterms:created>
  <dcterms:modified xsi:type="dcterms:W3CDTF">2026-04-22T17:26:22Z</dcterms:modified>
</cp:coreProperties>
</file>